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4" r:id="rId3"/>
    <p:sldId id="275" r:id="rId4"/>
    <p:sldId id="277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9pPr>
  </p:defaultTextStyle>
  <p:extLst>
    <p:ext uri="{521415D9-36F7-43E2-AB2F-B90AF26B5E84}">
      <p14:sectionLst xmlns:p14="http://schemas.microsoft.com/office/powerpoint/2010/main">
        <p14:section name="默认节" id="{2BA12937-4576-46E9-A5F1-44D83CB878C6}">
          <p14:sldIdLst>
            <p14:sldId id="256"/>
            <p14:sldId id="274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eng" initials="CC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99FF"/>
    <a:srgbClr val="0000FF"/>
    <a:srgbClr val="CCECFF"/>
    <a:srgbClr val="99CCFF"/>
    <a:srgbClr val="FFFF99"/>
    <a:srgbClr val="FFFF66"/>
    <a:srgbClr val="FBF385"/>
    <a:srgbClr val="EEA5FF"/>
    <a:srgbClr val="FF4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3" autoAdjust="0"/>
    <p:restoredTop sz="89355" autoAdjust="0"/>
  </p:normalViewPr>
  <p:slideViewPr>
    <p:cSldViewPr>
      <p:cViewPr varScale="1">
        <p:scale>
          <a:sx n="133" d="100"/>
          <a:sy n="133" d="100"/>
        </p:scale>
        <p:origin x="1515" y="69"/>
      </p:cViewPr>
      <p:guideLst>
        <p:guide orient="horz" pos="2154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78"/>
      </p:cViewPr>
      <p:guideLst>
        <p:guide orient="horz" pos="2872"/>
        <p:guide pos="216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55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55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76C343F1-3439-734F-85AA-BD8B399AF6A3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390187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en-US" altLang="zh-CN" noProof="0"/>
          </a:p>
          <a:p>
            <a:pPr lvl="1"/>
            <a:r>
              <a:rPr lang="zh-CN" altLang="en-US" noProof="0"/>
              <a:t>第二级</a:t>
            </a:r>
            <a:endParaRPr lang="en-US" altLang="zh-CN" noProof="0"/>
          </a:p>
          <a:p>
            <a:pPr lvl="2"/>
            <a:r>
              <a:rPr lang="zh-CN" altLang="en-US" noProof="0"/>
              <a:t>第三级</a:t>
            </a:r>
            <a:endParaRPr lang="en-US" altLang="zh-CN" noProof="0"/>
          </a:p>
          <a:p>
            <a:pPr lvl="3"/>
            <a:r>
              <a:rPr lang="zh-CN" altLang="en-US" noProof="0"/>
              <a:t>第四级</a:t>
            </a:r>
            <a:endParaRPr lang="en-US" altLang="zh-CN" noProof="0"/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04EB2441-6E1B-0C46-A084-F5418D440600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10572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EB2441-6E1B-0C46-A084-F5418D440600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387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charset="0"/>
              <a:buNone/>
              <a:defRPr sz="22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 bIns="45720"/>
          <a:lstStyle>
            <a:lvl1pPr algn="ctr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29" y="15670"/>
            <a:ext cx="938915" cy="96540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zh-CN" altLang="en-US" sz="2000" dirty="0" smtClean="0"/>
            </a:lvl1pPr>
            <a:lvl2pPr>
              <a:defRPr lang="zh-CN" altLang="en-US" sz="1800" dirty="0" smtClean="0"/>
            </a:lvl2pPr>
            <a:lvl3pPr>
              <a:defRPr lang="zh-CN" altLang="en-US" sz="1600" dirty="0" smtClean="0"/>
            </a:lvl3pPr>
            <a:lvl4pPr>
              <a:defRPr lang="zh-CN" altLang="en-US" sz="1400" dirty="0" smtClean="0"/>
            </a:lvl4pPr>
            <a:lvl5pPr>
              <a:defRPr lang="zh-CN" altLang="en-US" sz="1400" dirty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BE59E6E9-16BB-4D46-A8D6-97CC594B8C5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BE59E6E9-16BB-4D46-A8D6-97CC594B8C5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BE59E6E9-16BB-4D46-A8D6-97CC594B8C5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29" y="15670"/>
            <a:ext cx="938915" cy="965405"/>
          </a:xfrm>
          <a:prstGeom prst="rect">
            <a:avLst/>
          </a:prstGeom>
        </p:spPr>
      </p:pic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566738" y="1119189"/>
            <a:ext cx="7958137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99FF"/>
          </a:solidFill>
          <a:ln w="9525">
            <a:solidFill>
              <a:srgbClr val="3399FF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042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0042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91375" y="6624638"/>
            <a:ext cx="1952625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charset="0"/>
        <a:buChar char="o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charset="0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ü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Ø"/>
        <a:defRPr kumimoji="1" sz="16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  <a:cs typeface="+mn-cs"/>
        </a:defRPr>
      </a:lvl5pPr>
      <a:lvl6pPr marL="25514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30086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658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9230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ustc_dip@163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2060848"/>
            <a:ext cx="7772400" cy="1371600"/>
          </a:xfrm>
        </p:spPr>
        <p:txBody>
          <a:bodyPr/>
          <a:lstStyle/>
          <a:p>
            <a:pPr algn="ctr"/>
            <a:r>
              <a:rPr lang="en-US" altLang="zh-CN" dirty="0"/>
              <a:t>《</a:t>
            </a:r>
            <a:r>
              <a:rPr lang="zh-CN" altLang="en-US" dirty="0"/>
              <a:t>数字图像处理</a:t>
            </a:r>
            <a:r>
              <a:rPr lang="en-US" altLang="zh-CN" dirty="0"/>
              <a:t>》</a:t>
            </a:r>
            <a:br>
              <a:rPr lang="en-US" altLang="zh-CN" dirty="0"/>
            </a:br>
            <a:r>
              <a:rPr lang="zh-CN" altLang="en-US" dirty="0"/>
              <a:t>第三次编程作业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7584" y="3897052"/>
            <a:ext cx="7010400" cy="1600200"/>
          </a:xfrm>
        </p:spPr>
        <p:txBody>
          <a:bodyPr/>
          <a:lstStyle/>
          <a:p>
            <a:pPr algn="ctr"/>
            <a:r>
              <a:rPr lang="en-US" altLang="zh-CN" sz="3200" dirty="0"/>
              <a:t>2026-5-28</a:t>
            </a:r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B4CD4-818E-4506-ADCF-541D87BB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作业安排及提交时间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7331D-3629-455E-BB8C-1E1BBD38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448" y="1412776"/>
            <a:ext cx="8001000" cy="4967287"/>
          </a:xfrm>
        </p:spPr>
        <p:txBody>
          <a:bodyPr/>
          <a:lstStyle/>
          <a:p>
            <a:r>
              <a:rPr lang="zh-CN" altLang="en-US" sz="2400" dirty="0"/>
              <a:t>编程作业任务</a:t>
            </a:r>
            <a:r>
              <a:rPr lang="en-US" altLang="zh-CN" sz="2400" dirty="0"/>
              <a:t> – </a:t>
            </a:r>
            <a:r>
              <a:rPr lang="zh-CN" altLang="en-US" sz="2400" dirty="0"/>
              <a:t>复现书上以下结果</a:t>
            </a:r>
            <a:endParaRPr lang="en-US" altLang="zh-CN" sz="2400" dirty="0"/>
          </a:p>
          <a:p>
            <a:pPr lvl="1"/>
            <a:r>
              <a:rPr lang="zh-CN" altLang="en-US" sz="2200" dirty="0"/>
              <a:t>近似金字塔和预测残差金字塔（教材例</a:t>
            </a:r>
            <a:r>
              <a:rPr lang="en-US" altLang="zh-CN" sz="2200" dirty="0"/>
              <a:t>7.1-</a:t>
            </a:r>
            <a:r>
              <a:rPr lang="zh-CN" altLang="en-US" sz="2200" dirty="0"/>
              <a:t>图</a:t>
            </a:r>
            <a:r>
              <a:rPr lang="en-US" altLang="zh-CN" sz="2200" dirty="0"/>
              <a:t>7.3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lvl="1"/>
            <a:r>
              <a:rPr lang="zh-CN" altLang="en-US" sz="2000" dirty="0"/>
              <a:t>完成二维快速小波变换（教材例</a:t>
            </a:r>
            <a:r>
              <a:rPr lang="en-US" altLang="zh-CN" sz="2000" dirty="0"/>
              <a:t>7.12-</a:t>
            </a:r>
            <a:r>
              <a:rPr lang="zh-CN" altLang="en-US" sz="2000" dirty="0"/>
              <a:t>图</a:t>
            </a:r>
            <a:r>
              <a:rPr lang="en-US" altLang="zh-CN" sz="2000" dirty="0"/>
              <a:t>7.25</a:t>
            </a:r>
            <a:r>
              <a:rPr lang="zh-CN" altLang="en-US" sz="2000" dirty="0"/>
              <a:t>）和基于小波的边缘检测（教材例</a:t>
            </a:r>
            <a:r>
              <a:rPr lang="en-US" altLang="zh-CN" sz="2000" dirty="0"/>
              <a:t>7.13-</a:t>
            </a:r>
            <a:r>
              <a:rPr lang="zh-CN" altLang="en-US" sz="2000" dirty="0"/>
              <a:t>图</a:t>
            </a:r>
            <a:r>
              <a:rPr lang="en-US" altLang="zh-CN" sz="2000" dirty="0"/>
              <a:t>7.27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提交时间：</a:t>
            </a:r>
            <a:r>
              <a:rPr lang="en-US" altLang="zh-CN" sz="2400" dirty="0"/>
              <a:t>2026</a:t>
            </a:r>
            <a:r>
              <a:rPr lang="zh-CN" altLang="en-US" sz="2400" dirty="0"/>
              <a:t>年</a:t>
            </a:r>
            <a:r>
              <a:rPr lang="en-US" altLang="zh-CN" sz="2400" dirty="0"/>
              <a:t>6</a:t>
            </a:r>
            <a:r>
              <a:rPr lang="zh-CN" altLang="en-US" sz="2400" dirty="0"/>
              <a:t>月</a:t>
            </a:r>
            <a:r>
              <a:rPr lang="en-US" altLang="zh-CN" sz="2400" dirty="0"/>
              <a:t>10</a:t>
            </a:r>
            <a:r>
              <a:rPr lang="zh-CN" altLang="en-US" sz="2400" dirty="0"/>
              <a:t>日晚上</a:t>
            </a:r>
            <a:r>
              <a:rPr lang="en-US" altLang="zh-CN" sz="2400" dirty="0"/>
              <a:t>12</a:t>
            </a:r>
            <a:r>
              <a:rPr lang="zh-CN" altLang="en-US" sz="2400" dirty="0"/>
              <a:t>点前</a:t>
            </a:r>
            <a:endParaRPr lang="en-US" altLang="zh-CN" sz="2400" dirty="0"/>
          </a:p>
          <a:p>
            <a:pPr lvl="1"/>
            <a:r>
              <a:rPr lang="zh-CN" altLang="en-US" sz="2200" dirty="0"/>
              <a:t>要求：提交代码实现和实验报告，打包并压缩</a:t>
            </a:r>
            <a:endParaRPr lang="en-US" altLang="zh-CN" sz="2200" dirty="0"/>
          </a:p>
          <a:p>
            <a:pPr lvl="1"/>
            <a:r>
              <a:rPr lang="zh-CN" altLang="en-US" sz="2200" dirty="0"/>
              <a:t>命名规则：第四次编程作业</a:t>
            </a:r>
            <a:r>
              <a:rPr lang="en-US" altLang="zh-CN" sz="2200" dirty="0"/>
              <a:t>_</a:t>
            </a:r>
            <a:r>
              <a:rPr lang="zh-CN" altLang="en-US" sz="2200" dirty="0"/>
              <a:t>学号</a:t>
            </a:r>
            <a:r>
              <a:rPr lang="en-US" altLang="zh-CN" sz="2200" dirty="0"/>
              <a:t>_</a:t>
            </a:r>
            <a:r>
              <a:rPr lang="zh-CN" altLang="en-US" sz="2200" dirty="0"/>
              <a:t>姓名</a:t>
            </a:r>
            <a:endParaRPr lang="en-US" altLang="zh-CN" sz="2200" dirty="0"/>
          </a:p>
          <a:p>
            <a:pPr lvl="1"/>
            <a:r>
              <a:rPr lang="zh-CN" altLang="en-US" sz="2200" dirty="0"/>
              <a:t>发到邮箱 </a:t>
            </a:r>
            <a:r>
              <a:rPr lang="en-US" altLang="zh-CN" sz="2200" dirty="0">
                <a:hlinkClick r:id="rId2"/>
              </a:rPr>
              <a:t>mylaj@163.com</a:t>
            </a:r>
            <a:endParaRPr lang="en-US" altLang="zh-CN" sz="2200" dirty="0"/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每迟交一天，本次实验分数多乘以一次</a:t>
            </a:r>
            <a:r>
              <a:rPr lang="en-US" altLang="zh-CN" sz="2000" dirty="0">
                <a:solidFill>
                  <a:srgbClr val="FF0000"/>
                </a:solidFill>
              </a:rPr>
              <a:t>0.90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31432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近似金字塔和预测残差金字塔（教材例</a:t>
            </a:r>
            <a:r>
              <a:rPr lang="en-US" altLang="zh-CN" sz="2400" dirty="0"/>
              <a:t>7.1-</a:t>
            </a:r>
            <a:r>
              <a:rPr lang="zh-CN" altLang="en-US" sz="2400" dirty="0"/>
              <a:t>图</a:t>
            </a:r>
            <a:r>
              <a:rPr lang="en-US" altLang="zh-CN" sz="2400" dirty="0"/>
              <a:t>7.3</a:t>
            </a:r>
            <a:r>
              <a:rPr lang="zh-CN" altLang="en-US" sz="24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参照教材例</a:t>
            </a:r>
            <a:r>
              <a:rPr lang="en-US" altLang="zh-CN" dirty="0"/>
              <a:t>7.1</a:t>
            </a:r>
            <a:r>
              <a:rPr lang="zh-CN" altLang="en-US" dirty="0"/>
              <a:t>，构建两种图像金字塔。</a:t>
            </a:r>
            <a:endParaRPr lang="en-US" altLang="zh-CN" dirty="0"/>
          </a:p>
          <a:p>
            <a:pPr lvl="1"/>
            <a:r>
              <a:rPr lang="zh-CN" altLang="en-US" dirty="0"/>
              <a:t>复现教材图</a:t>
            </a:r>
            <a:r>
              <a:rPr lang="en-US" altLang="zh-CN" dirty="0"/>
              <a:t>7.3</a:t>
            </a:r>
          </a:p>
          <a:p>
            <a:r>
              <a:rPr lang="zh-CN" altLang="en-US" dirty="0"/>
              <a:t>编程：</a:t>
            </a:r>
            <a:r>
              <a:rPr lang="en-US" altLang="zh-CN" dirty="0" err="1"/>
              <a:t>Matlab</a:t>
            </a:r>
            <a:r>
              <a:rPr lang="en-US" altLang="zh-CN" dirty="0"/>
              <a:t>, Python, C++ </a:t>
            </a:r>
            <a:r>
              <a:rPr lang="zh-CN" altLang="en-US" dirty="0"/>
              <a:t>均可</a:t>
            </a:r>
            <a:endParaRPr lang="en-US" altLang="zh-CN" dirty="0"/>
          </a:p>
          <a:p>
            <a:r>
              <a:rPr lang="zh-CN" altLang="en-US" dirty="0"/>
              <a:t>图例：</a:t>
            </a:r>
            <a:r>
              <a:rPr lang="en-US" altLang="zh-CN" dirty="0"/>
              <a:t>demo-1.jpg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59E6E9-16BB-4D46-A8D6-97CC594B8C57}" type="slidenum">
              <a:rPr lang="en-US" altLang="zh-CN" smtClean="0"/>
              <a:t>3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931" y="3017912"/>
            <a:ext cx="3230488" cy="323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715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sz="2400" dirty="0"/>
              <a:t>计算二维快速小波变换（教材例</a:t>
            </a:r>
            <a:r>
              <a:rPr lang="en-US" altLang="zh-CN" sz="2400" dirty="0"/>
              <a:t>7.12-</a:t>
            </a:r>
            <a:r>
              <a:rPr lang="zh-CN" altLang="en-US" sz="2400" dirty="0"/>
              <a:t>图</a:t>
            </a:r>
            <a:r>
              <a:rPr lang="en-US" altLang="zh-CN" sz="2400" dirty="0"/>
              <a:t>7.25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参考教材例</a:t>
            </a:r>
            <a:r>
              <a:rPr lang="en-US" altLang="zh-CN" dirty="0"/>
              <a:t>7.12</a:t>
            </a:r>
            <a:r>
              <a:rPr lang="zh-CN" altLang="en-US" dirty="0"/>
              <a:t>、例</a:t>
            </a:r>
            <a:r>
              <a:rPr lang="en-US" altLang="zh-CN" dirty="0"/>
              <a:t>7.13</a:t>
            </a:r>
            <a:r>
              <a:rPr lang="zh-CN" altLang="en-US" dirty="0"/>
              <a:t>，计算二维快速小波变换，并完成基于小波的边缘检测</a:t>
            </a:r>
            <a:endParaRPr lang="en-US" altLang="zh-CN" dirty="0"/>
          </a:p>
          <a:p>
            <a:pPr lvl="1"/>
            <a:r>
              <a:rPr lang="zh-CN" altLang="en-US" dirty="0"/>
              <a:t>利用表</a:t>
            </a:r>
            <a:r>
              <a:rPr lang="en-US" altLang="zh-CN" dirty="0"/>
              <a:t>7.3</a:t>
            </a:r>
            <a:r>
              <a:rPr lang="zh-CN" altLang="en-US" dirty="0"/>
              <a:t>提供的滤波器，复现教材图</a:t>
            </a:r>
            <a:r>
              <a:rPr lang="en-US" altLang="zh-CN" dirty="0"/>
              <a:t>7.25</a:t>
            </a:r>
            <a:r>
              <a:rPr lang="zh-CN" altLang="en-US" dirty="0"/>
              <a:t>、图</a:t>
            </a:r>
            <a:r>
              <a:rPr lang="en-US" altLang="zh-CN" dirty="0"/>
              <a:t>7.27</a:t>
            </a:r>
          </a:p>
          <a:p>
            <a:r>
              <a:rPr lang="zh-CN" altLang="en-US" dirty="0"/>
              <a:t>编程：</a:t>
            </a:r>
            <a:r>
              <a:rPr lang="en-US" altLang="zh-CN" dirty="0" err="1"/>
              <a:t>Matlab</a:t>
            </a:r>
            <a:r>
              <a:rPr lang="en-US" altLang="zh-CN" dirty="0"/>
              <a:t>, Python, C++ </a:t>
            </a:r>
            <a:r>
              <a:rPr lang="zh-CN" altLang="en-US" dirty="0"/>
              <a:t>均可</a:t>
            </a:r>
            <a:endParaRPr lang="en-US" altLang="zh-CN" dirty="0"/>
          </a:p>
          <a:p>
            <a:r>
              <a:rPr lang="zh-CN" altLang="en-US" dirty="0"/>
              <a:t>图例：</a:t>
            </a:r>
            <a:r>
              <a:rPr lang="en-US" altLang="zh-CN" dirty="0"/>
              <a:t>demo-2.tif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59E6E9-16BB-4D46-A8D6-97CC594B8C57}" type="slidenum">
              <a:rPr lang="en-US" altLang="zh-CN" smtClean="0"/>
              <a:t>4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882" y="3185815"/>
            <a:ext cx="3062585" cy="306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002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黑体"/>
        <a:cs typeface="黑体"/>
      </a:majorFont>
      <a:minorFont>
        <a:latin typeface="Times New Roman"/>
        <a:ea typeface="黑体"/>
        <a:cs typeface="黑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charset="0"/>
          <a:buChar char="•"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黑体" panose="02010609060101010101" charset="-122"/>
            <a:cs typeface="黑体" panose="0201060906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charset="0"/>
          <a:buChar char="•"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黑体" panose="02010609060101010101" charset="-122"/>
            <a:cs typeface="黑体" panose="02010609060101010101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7065</TotalTime>
  <Words>227</Words>
  <Application>Microsoft Office PowerPoint</Application>
  <PresentationFormat>全屏显示(4:3)</PresentationFormat>
  <Paragraphs>27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Verdana</vt:lpstr>
      <vt:lpstr>Wingdings</vt:lpstr>
      <vt:lpstr>Profile</vt:lpstr>
      <vt:lpstr>《数字图像处理》 第三次编程作业</vt:lpstr>
      <vt:lpstr>作业安排及提交时间</vt:lpstr>
      <vt:lpstr>近似金字塔和预测残差金字塔（教材例7.1-图7.3）</vt:lpstr>
      <vt:lpstr>计算二维快速小波变换（教材例7.12-图7.25）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基于视觉特性的视频编码理论与方法研究</dc:title>
  <dc:creator>SwanTian</dc:creator>
  <cp:lastModifiedBy>laj</cp:lastModifiedBy>
  <cp:revision>3775</cp:revision>
  <dcterms:created xsi:type="dcterms:W3CDTF">2006-10-11T01:50:00Z</dcterms:created>
  <dcterms:modified xsi:type="dcterms:W3CDTF">2026-06-01T11:49:00Z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2052-10.1.0.5975</vt:lpwstr>
  </property>
</Properties>
</file>